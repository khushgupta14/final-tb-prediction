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FINAL CAPSTONE PROJECT REVIEW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</a:defRPr>
            </a:pPr>
            <a:r>
              <a:t>Deep Learning Based Pulmonary Tuberculosis Detection</a:t>
            </a:r>
            <a:br/>
            <a:r>
              <a:t>System from Chest Radiographs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</a:defRPr>
            </a:pPr>
            <a:r>
              <a:t>VGG16 Transfer Learning • Physical 70/15/15 Data Isolation • Interactive Flask Web Platform • 98.57%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6858000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6492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PROJECT TEAM MEMBERS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Ishan Choudhary (25BCE10753) — Problem Definition &amp; Dataset Curation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Khush Gupta (25BCE10038) — Preprocessing &amp; Physical 70/15/15 Splitting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Vidit Choudhary (25BCE10749) — VGG16 Transfer Learning &amp; Optimization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Saransh Mathur (25BCE10354) — Test Set Evaluation &amp; Metrics Engine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Somya Bhardwaj (25BCE10409) — Flask Web Backend &amp; Interactive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200400"/>
            <a:ext cx="3200400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33375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PROJECT SUPERVISION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Project Guide:</a:t>
            </a:r>
            <a:br/>
            <a:r>
              <a:t>&lt;&lt;Faculty Guide Name&gt;&gt;</a:t>
            </a:r>
            <a:br/>
            <a:r>
              <a:t>Designation, Dept. of CSE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School of Computing Science &amp; Engineering</a:t>
            </a:r>
            <a:br/>
            <a:r>
              <a:t>VIT Bhopal University</a:t>
            </a:r>
            <a:br/>
            <a:r>
              <a:t>Academic Year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Introduction &amp; Clinical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The Global Tuberculosis Crisis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Major Infectious Killer: Pulmonary Tuberculosis (Mycobacterium tuberculosis) causes ~1.3 million deaths annually (WHO).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Disproportionate Impact: Heavily impacts developing nations and resource-constrained healthcare systems.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Primary Modality: Chest X-rays (CXRs) are the fastest, most economical frontline screening tool.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Diagnostic Bottlenecks: Early lesions, apical infiltrates, and cavitations are subtle and easily missed.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Radiologist Scarcity: In peripheral and rural clinics, the specialist-to-patient ratio often falls below 1 per 100,000 citizens.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Why Automated AI Triaging?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Eliminating Diagnostic Delay: Cuts patient wait times from days/weeks down to &lt; 1.2 seconds.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Triage Assistance: Prioritizes high-risk patients for same-day confirmatory GeneXpert/sputum testing.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Mitigating Observer Fatigue: Reduces inter-reader diagnostic variability (which ranges 15-30% among clinicians).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Point-of-Care Web Integration: Provides an accessible, responsive web interface that medical staff can operate with ease.</a:t>
            </a:r>
          </a:p>
          <a:p>
            <a:pPr>
              <a:spcBef>
                <a:spcPts val="700"/>
              </a:spcBef>
              <a:defRPr sz="1150">
                <a:solidFill>
                  <a:srgbClr val="0F172A"/>
                </a:solidFill>
              </a:defRPr>
            </a:pPr>
            <a:r>
              <a:t>• Zero Hardware Overhead: Runs smoothly on standard consumer CPU laptops without expensive GPU setups.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Existing Work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Critical Comparison with Traditional &amp; Existing Diagnostic Methods</a:t>
            </a:r>
          </a:p>
          <a:p>
            <a:pPr>
              <a:spcBef>
                <a:spcPts val="900"/>
              </a:spcBef>
              <a:defRPr sz="1300" b="1">
                <a:solidFill>
                  <a:srgbClr val="DC2626"/>
                </a:solidFill>
              </a:defRPr>
            </a:pPr>
            <a:r>
              <a:t>🔴 Traditional Sputum Smear &amp; Bacterial Culture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• Sputum smear microscopy exhibits low clinical sensitivity (only 50-60%) in early infection stages.</a:t>
            </a:r>
            <a:br/>
            <a:r>
              <a:t>• Bacterial culture takes 2 to 6 weeks for growth, causing dangerous treatment delays.</a:t>
            </a:r>
            <a:br/>
            <a:r>
              <a:t>• High laboratory biosafety requirements limit availability in rural centers.</a:t>
            </a:r>
          </a:p>
          <a:p>
            <a:pPr>
              <a:spcBef>
                <a:spcPts val="900"/>
              </a:spcBef>
              <a:defRPr sz="1300" b="1">
                <a:solidFill>
                  <a:srgbClr val="DC2626"/>
                </a:solidFill>
              </a:defRPr>
            </a:pPr>
            <a:r>
              <a:t>🔴 Manual Radiological Review by Radiologists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• Severe expert radiologist scarcity in rural and peripheral primary health centers.</a:t>
            </a:r>
            <a:br/>
            <a:r>
              <a:t>• Diagnostic fatigue leads to missed apical lesions and radio-opaque consolidation.</a:t>
            </a:r>
            <a:br/>
            <a:r>
              <a:t>• Inter-reader variability reaches up to 30%, resulting in diagnostic inconsistencies.</a:t>
            </a:r>
          </a:p>
          <a:p>
            <a:pPr>
              <a:spcBef>
                <a:spcPts val="900"/>
              </a:spcBef>
              <a:defRPr sz="1300" b="1">
                <a:solidFill>
                  <a:srgbClr val="DC2626"/>
                </a:solidFill>
              </a:defRPr>
            </a:pPr>
            <a:r>
              <a:t>🔴 Prior Deep Learning Models from Scratch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• High Overfitting Risk: Training deep CNNs from scratch without transfer learning causes memorization.</a:t>
            </a:r>
            <a:br/>
            <a:r>
              <a:t>• Data Contamination: Many published models fail to physically isolate an untouched test partition.</a:t>
            </a:r>
            <a:br/>
            <a:r>
              <a:t>• Heavy Compute Overhead: Many models require expensive GPUs and bulky multi-stage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Proposed Work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End-to-End System Pipeline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1. Physical 70/15/15 Partitioning: 4,200 chest radiographs separated into train (2,939), val (630), and strictly isolated test (631).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2. Input Standardization: Radiographs resized to 224x224 RGB and pixel intensities rescaled to [0, 1].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3. VGG16 Pre-trained Backbone: Utilizes 13 convolutional layers (14.7M frozen parameters) pre-trained on ImageNet.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4. Global Average Pooling (GAP2D): Compresses 7x7x512 spatial features into a 512-dim vector, slashing parameters by 98%.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5. Regularization &amp; Head: Dense(128, ReLU) + Dropout(0.5) + Dense(1, Sigmoid) with Adam optimization (lr=1e-4).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6. In-Memory Web Triaging: Flask web app with instant file preview and percentage bars.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Novelty &amp; Technical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1. Strict Physical 70/15/15 Data Isolation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Unlike studies that perform random batch splits in RAM, we physically partitioned 631 test scans into a dedicated dataset/test folder prior to training, guaranteeing 100% zero data leakage and uncompromised evaluation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Lightweight VGG16 Transfer Learning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By combining frozen VGG16 convolutional feature extractors with Global Average Pooling (GAP2D), we drastically reduced trainable parameters while achieving an exceptional 98.57% test accuracy on consumer CPU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3. High Clinical Sensitivity (93.40%)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Our model prioritizes patient safety by achieving a 93.40% Recall on positive TB scans (catching 99 of 106 cases) alongside a 99.62% Specificity on healthy individuals, minimizing dangerous false-negative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4. Seamless In-Memory Web Triage App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A clean, responsive Flask web application that decodes images in-memory via PIL/Pillow without saving patient uploads to disk, safeguarding confidentiality while providing instant preview and visual percentage bars.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Real-Time Clinical Usage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Operational Workflow in Primary Healthcare Centers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🏥 Step 1: Point-of-Care Radiograph Acquisition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Patient undergoes chest radiography at a primary clinic or mobile health van. Digital scan is exported as PNG/JPEG.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🏥 Step 2: Instant Automated Inference (&lt; 1.2 Seconds)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The health worker uploads the X-ray to the web interface. In-memory VGG16 inference computes Normal vs TB probabilities instantly.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🏥 Step 3: Clinical Triage Routing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• High Risk (TB &gt; 50%): Scan flagged with '⚠️ TB Detected'. Patient routed immediately for same-day GeneXpert PCR confirmation.</a:t>
            </a:r>
            <a:br/>
            <a:r>
              <a:t>• Low Risk (TB &lt; 50%): Flagged as '✅ Normal' with 99.62% Specificity, safely clearing healthy individuals.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🏥 Measurable Healthcare Impact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• Eliminates Diagnostic Backlogs: Triages high-risk cases in seconds instead of multi-week waits.</a:t>
            </a:r>
            <a:br/>
            <a:r>
              <a:t>• Curtails Community Spread: Immediate detection halts secondary bacterial transmission.</a:t>
            </a:r>
            <a:br/>
            <a:r>
              <a:t>• Zero Hardware Barrier: Runs on standard clinic laptops without cloud dependencies or GPU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Hardware &amp; Software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Software Specifications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Operating System: Windows 10/11 64-bit / Linux / macOS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Programming Language: Python 3.10+ (Verified on Python 3.14)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Deep Learning: TensorFlow 2.15+ / Keras (VGG16 Transfer Learning)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Web Framework: Flask 3.x (WSGI Server &amp; REST API)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Image Processing: Pillow (PIL) &amp; NumPy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Frontend: HTML5, CSS3, JavaScript (Fetch API)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Evaluation Tool: NumPy array processing engine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Minimal Footprint: Clean, zero-bloat dependency manifest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Hardware Specifications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Processor (CPU): Intel Core i5 / i7 or AMD Ryzen 5+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System Memory (RAM): Minimum 8 GB (16 GB Recommended)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Storage: 2 GB available SSD/HDD storage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Inference Hardware: Standard Consumer CPU (Zero GPU required for web inference)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Inference Latency: &lt; 1.2 seconds per radiograph scan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Power Profile: Ultra-low power consumption (&lt; 15W during inference)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• Edge Portability: Ready for embedded deployment via TensorFlow 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Overall System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End-to-End VGG16 Neural Network Architecture &amp; Web Triage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STAGE 1: INPUT &amp; PREPROCESSING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Chest X-ray (PNG/JPEG)</a:t>
            </a:r>
            <a:br/>
            <a:r>
              <a:t>• Resized to 224x224 RGB</a:t>
            </a:r>
            <a:br/>
            <a:r>
              <a:t>• In-memory decoding (PIL)</a:t>
            </a:r>
            <a:br/>
            <a:r>
              <a:t>• Rescaled to [0, 1]</a:t>
            </a:r>
            <a:br/>
            <a:r>
              <a:t>• Physical 70/15/15 partitions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STAGE 2: FEATURE EXTRACTION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VGG16 Pre-trained Backbone</a:t>
            </a:r>
            <a:br/>
            <a:r>
              <a:t>• 13 Convolutional Layers</a:t>
            </a:r>
            <a:br/>
            <a:r>
              <a:t>• 5 Max-Pooling Layers</a:t>
            </a:r>
            <a:br/>
            <a:r>
              <a:t>• Weights Frozen (14.7M)</a:t>
            </a:r>
            <a:br/>
            <a:r>
              <a:t>• Preserves ImageNet edge &amp; texture detectors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STAGE 3: CLASSIFICATION HEAD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GlobalAvgPooling2D</a:t>
            </a:r>
            <a:br/>
            <a:r>
              <a:t>  (7x7x512 -&gt; 512)</a:t>
            </a:r>
            <a:br/>
            <a:r>
              <a:t>• Dense Layer (128, ReLU)</a:t>
            </a:r>
            <a:br/>
            <a:r>
              <a:t>• Dropout (0.50 rate)</a:t>
            </a:r>
            <a:br/>
            <a:r>
              <a:t>• Output Dense (1, Sigmoid)</a:t>
            </a:r>
            <a:br/>
            <a:r>
              <a:t>• Loss: Binary Cross-Entropy</a:t>
            </a:r>
            <a:br/>
            <a:r>
              <a:t>• Optimizer: Adam (lr=1e-4)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011680"/>
            <a:ext cx="23774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1031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65D"/>
                </a:solidFill>
              </a:defRPr>
            </a:pPr>
            <a:r>
              <a:t>STAGE 4: WEB TRIAGING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Flask Backend (app.py)</a:t>
            </a:r>
            <a:br/>
            <a:r>
              <a:t>• Asynchronous Fetch API</a:t>
            </a:r>
            <a:br/>
            <a:r>
              <a:t>• Live Image Preview</a:t>
            </a:r>
            <a:br/>
            <a:r>
              <a:t>• Dual Progress Bars (Normal vs TB)</a:t>
            </a:r>
            <a:br/>
            <a:r>
              <a:t>• Real-Time Verdict Badge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Literature Review &amp; Benchmark Studies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State-of-the-Art Analysis in Pulmonary TB Detection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📄 Rahman et al. (IEEE Access, 2020)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Dataset: 4,200 images (Kaggle benchmark) | Models: ResNet, CheXNet, DenseNet with UNet segmentation.</a:t>
            </a:r>
            <a:br/>
            <a:r>
              <a:t>Reported: ~98% accuracy (with segmented lung fields). Drawback: High two-stage compute pipeline; heavy latency.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📄 P. Lakhani &amp; B. Sundaram (Radiology, 2017)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Dataset: 1,007 CXRs | Models: AlexNet and GoogLeNet deep CNN ensemble with ImageNet pre-training.</a:t>
            </a:r>
            <a:br/>
            <a:r>
              <a:t>Reported: AUC of 0.99 with ensemble. Drawback: Dual-network memory overhead; closed clinical cohort.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📄 S. Hwang et al. (European Radiology, 2019)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Dataset: 54,221 CXRs | Model: Deep CNN for pulmonary tuberculosis screening in high-throughput clinics.</a:t>
            </a:r>
            <a:br/>
            <a:r>
              <a:t>Reported: AUC 0.977, Sensitivity 94.3%. Drawback: Proprietary hospital dataset; no point-of-care web triage tool.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📄 Our Proposed VGG16 CAD System (2026-2027)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Dataset: 4,200 CXRs | Model: Frozen VGG16 + GAP2D + 70/15/15 Physical Isolation + Interactive Flask App.</a:t>
            </a:r>
            <a:br/>
            <a:r>
              <a:t>Results: Overall Accuracy 98.57%, Sensitivity 93.40%, Specificity 99.62%, &lt;1.2s inference on consumer CPU.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Module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Module 1: Dataset Partitioning &amp; Physical Isolation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Physically segments 4,200 chest radiographs into 70% Training (2,939), 15% Validation (630), and 15% Testing (631) folders, completely eliminating data contamination.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Module 2: VGG16 Transfer Learning Engine (train_model.py)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Loads partitioned directories with tf.keras, rescales pixel intensities to [0, 1], attaches GAP2D, Dense(128), Dropout(0.5), trains over 10 epochs, and serializes to tb_model.h5.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Module 3: Autonomous Accuracy &amp; Metrics Evaluator (calculate_accuracy.py)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Loads tb_model.h5, evaluates 631 unseen test scans, and calculates exact TP, TN, FP, FN, Sensitivity, Specificity, and overall accuracy via NumPy.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698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0799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Module 4: Flask Web Application Backend (app.py)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Hosts the web server, accepts multipart uploads, performs in-memory PIL byte decoding and normalization, and delivers real-time JSON probability predictions.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5955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Module 5: Interactive User Interface (templates/index.html)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Modern card UI with dashed drag-and-drop file upload, instant image preview, animated confidence percentage bars, and distinct diagnostic verdict badges.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Module Workflow &amp; Execution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Sequential Operational Flow of the System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▶ Step 1: Dataset Segregation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4,200 chest X-rays organized into dataset/train, dataset/val, and dataset/test across Normal and Tuberculosis categories.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▶ Step 2: Training Pipeline Execution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train_model.py streams images at 224x224 RGB, rescales to [0, 1], fits the VGG16 head over 10 epochs, and saves tb_model.h5.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▶ Step 3: Verification on Unseen Data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calculate_accuracy.py loads the 631 test scans, executes inference, and generates the definitive Confusion Matrix.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▶ Step 4: Launching Local Web Server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app.py starts the Flask service at http://127.0.0.1:5000, serving index.html to client browsers.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▶ Step 5: Client Image Selection &amp; Preview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The user drops or selects an X-ray scan. Client JavaScript generates an immediate local preview via URL.createObjectURL.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▶ Step 6: Real-Time Diagnostic Output</a:t>
            </a:r>
          </a:p>
          <a:p>
            <a:pPr>
              <a:spcBef>
                <a:spcPts val="100"/>
              </a:spcBef>
              <a:defRPr sz="1050">
                <a:solidFill>
                  <a:srgbClr val="0F172A"/>
                </a:solidFill>
              </a:defRPr>
            </a:pPr>
            <a:r>
              <a:t>Fetch POST delivers predictions in &lt;1.2s, animating the green/red confidence meters and showing the diagnosis badge.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Implementation &amp; Key Code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Model Architecture Code (train_model.py)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# VGG16 Transfer Learning</a:t>
            </a:r>
            <a:br/>
            <a:r>
              <a:t>base_model = VGG16(</a:t>
            </a:r>
            <a:br/>
            <a:r>
              <a:t>    weights='imagenet',</a:t>
            </a:r>
            <a:br/>
            <a:r>
              <a:t>    include_top=False,</a:t>
            </a:r>
            <a:br/>
            <a:r>
              <a:t>    input_shape=(224, 224, 3)</a:t>
            </a:r>
            <a:br/>
            <a:r>
              <a:t>)</a:t>
            </a:r>
            <a:br/>
            <a:r>
              <a:t>base_model.trainable = False  # Freeze</a:t>
            </a:r>
            <a:br/>
            <a:br/>
            <a:r>
              <a:t>model = models.Sequential([</a:t>
            </a:r>
            <a:br/>
            <a:r>
              <a:t>    base_model,</a:t>
            </a:r>
            <a:br/>
            <a:r>
              <a:t>    layers.GlobalAveragePooling2D(),</a:t>
            </a:r>
            <a:br/>
            <a:r>
              <a:t>    layers.Dense(128, activation='relu'),</a:t>
            </a:r>
            <a:br/>
            <a:r>
              <a:t>    layers.Dropout(0.5),</a:t>
            </a:r>
            <a:br/>
            <a:r>
              <a:t>    layers.Dense(1, activation='sigmoid')</a:t>
            </a:r>
            <a:br/>
            <a:r>
              <a:t>])</a:t>
            </a:r>
            <a:br/>
            <a:br/>
            <a:r>
              <a:t>model.compile(</a:t>
            </a:r>
            <a:br/>
            <a:r>
              <a:t>    optimizer='adam',</a:t>
            </a:r>
            <a:br/>
            <a:r>
              <a:t>    loss='binary_crossentropy',</a:t>
            </a:r>
            <a:br/>
            <a:r>
              <a:t>    metrics=['accuracy']</a:t>
            </a:r>
            <a:br/>
            <a:r>
              <a:t>)</a:t>
            </a:r>
            <a:br/>
            <a:r>
              <a:t>model.fit(train_ds, validation_data=val_ds, epochs=10)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In-Memory Web Prediction (app.py)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@app.route('/predict', methods=['POST'])</a:t>
            </a:r>
            <a:br/>
            <a:r>
              <a:t>def predict():</a:t>
            </a:r>
            <a:br/>
            <a:r>
              <a:t>    file = request.files.get('file')</a:t>
            </a:r>
            <a:br/>
            <a:r>
              <a:t>    if not file: return jsonify(error='No file'), 400</a:t>
            </a:r>
            <a:br/>
            <a:br/>
            <a:r>
              <a:t>    # In-memory preprocessing via PIL</a:t>
            </a:r>
            <a:br/>
            <a:r>
              <a:t>    img = Image.open(io.BytesIO(file.read())).convert('RGB')</a:t>
            </a:r>
            <a:br/>
            <a:r>
              <a:t>    img = img.resize((224, 224))</a:t>
            </a:r>
            <a:br/>
            <a:r>
              <a:t>    img_arr = np.array(img, dtype='float32') / 255.0</a:t>
            </a:r>
            <a:br/>
            <a:r>
              <a:t>    img_arr = np.expand_dims(img_arr, axis=0)</a:t>
            </a:r>
            <a:br/>
            <a:br/>
            <a:r>
              <a:t>    # Inference &amp; JSON Response</a:t>
            </a:r>
            <a:br/>
            <a:r>
              <a:t>    prob = float(model.predict(img_arr)[0][0])</a:t>
            </a:r>
            <a:br/>
            <a:r>
              <a:t>    tb_pct = round(prob * 100, 2)</a:t>
            </a:r>
            <a:br/>
            <a:r>
              <a:t>    normal_pct = round((1.0 - prob) * 100, 2)</a:t>
            </a:r>
            <a:br/>
            <a:br/>
            <a:r>
              <a:t>    return jsonify(normal=normal_pct, tb=tb_pct)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12. Demonstration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Live Software Demonstration Overview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💻 Step 1: Starting the Local Application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Run 'python app.py' in the terminal. The service loads tb_model.h5 and starts on http://127.0.0.1:5000.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💻 Step 2: Browser Access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Open Google Chrome or Microsoft Edge and navigate to http://127.0.0.1:5000.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💻 Step 3: Interactive Normal Lung Test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Select any scan from dataset/test/Normal/ (e.g. Normal-100.png). Click 'Predict' -&gt; Interface displays '✅ Normal' with high confidence bar.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💻 Step 4: Interactive Tuberculosis Lung Test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Select any scan from dataset/test/Tuberculosis/ (e.g. Tuberculosis-10.png). Click 'Predict' -&gt; Interface displays '⚠️ TB Detected' with high red confidence bar.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💻 Step 5: Standalone Accuracy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Execute 'python calculate_accuracy.py' to reproduce the 98.57% test accuracy and complete Confusion Matrix live in the terminal.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13. Snapshots of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Held-Out Test Dataset Samples</a:t>
            </a:r>
          </a:p>
        </p:txBody>
      </p:sp>
      <p:pic>
        <p:nvPicPr>
          <p:cNvPr id="7" name="Picture 6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754880" cy="3169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Dataset Class Distribution Breakdown</a:t>
            </a:r>
          </a:p>
        </p:txBody>
      </p:sp>
      <p:pic>
        <p:nvPicPr>
          <p:cNvPr id="10" name="Picture 9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0312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14. Testing &amp; Validation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Rigorous Testing Methodology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Zero Data Contamination: 631 test images physically isolated prior to model fitting.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Completely Untouched: The test set was never utilized for weight updates or backpropagation.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Stratification Preserved: 70/15/15 ratio maintained for both Normal and TB categories.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Batch Processing: Tested efficiently using tf.data prefetching pipelines.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Reproducibility Enforced: Random seeds fixed across all shuffling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Training Convergence Curves</a:t>
            </a:r>
          </a:p>
        </p:txBody>
      </p:sp>
      <p:pic>
        <p:nvPicPr>
          <p:cNvPr id="9" name="Picture 8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17622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15. Result &amp; Discussion (Benchmark Performance)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Benchmark Performance (631 Unseen Scans)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Overall Test Accuracy: 98.57% (622 of 631 scans correctly diagnosed)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Sensitivity (Recall): 93.40% (99 of 106 active TB cases caught)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Specificity (Normal): 99.62% (523 of 525 healthy lungs cleared)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False Negatives (FN): 7 scans (Only 7 missed active cases)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False Positives (FP): 2 scans (Minimal unnecessary alarms)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Inference Latency: &lt; 1.2 sec (Real-time edge triaging capability)</a:t>
            </a:r>
          </a:p>
          <a:p>
            <a:br/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Clinical Triage Discussion:</a:t>
            </a:r>
            <a:br/>
            <a:r>
              <a:t>In tuberculosis screening, high sensitivity is paramount. Our model caught 93.40% of all active infections while maintaining an astounding 99.62% specificity, proving high clinical viability for point-of-care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57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CAPSTONE FINAL REVIEW • B.TECH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16. 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Key Project Conclusions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Successful Transfer Learning: VGG16 adapted exceptionally well to chest radiography, reaching 98.57% test accuracy.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Clinical Efficacy: 93.40% Sensitivity catches over 9 in 10 positive cases, and 99.62% Specificity eliminates false alarms.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Scientific Integrity: Verified zero data leakage through physical 70/15/15 dataset segregation.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✔ Lightweight Deployment: Smooth Flask web app provides instant point-of-care triaging on standard laptop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Future Enhancement Roadmap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🚀 Multi-Class Pathologies: Extend classification to Pneumonia, COVID-19, and Pleural Effusion.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🚀 Explainable AI (XAI): Integrate real-time Grad-CAM lesion heatmaps into the web interface.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🚀 Edge Portability: Quantize model via TensorFlow Lite (TFLite) for Raspberry Pi 5 / Android tablets.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t>🚀 Federated Learning: Enable collaborative training across multiple hospitals without sharing patient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